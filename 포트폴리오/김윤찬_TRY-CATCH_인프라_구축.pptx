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thumbnail" Target="docProps/thumbnail.jpeg"/>
  <Relationship Id="rId3" Type="http://schemas.openxmlformats.org/package/2006/relationships/metadata/core-properties" Target="docProps/core.xml"/>
  <Relationship Id="rId4" Type="http://schemas.openxmlformats.org/officeDocument/2006/relationships/extended-properties" Target="docProps/app.xml"/>
  <Relationship Id="rId5" Type="http://schemas.openxmlformats.org/officeDocument/2006/relationships/custom-properties" Target="docProps/custom.xml"/>
</Relationships>
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notesMaster" Target="notesMasters/notesMaster1.xml"/>
  <Relationship Id="rId3" Type="http://schemas.openxmlformats.org/officeDocument/2006/relationships/slide" Target="slides/slide1.xml"/>
  <Relationship Id="rId4" Type="http://schemas.openxmlformats.org/officeDocument/2006/relationships/slide" Target="slides/slide2.xml"/>
  <Relationship Id="rId5" Type="http://schemas.openxmlformats.org/officeDocument/2006/relationships/presProps" Target="presProps.xml"/>
  <Relationship Id="rId6" Type="http://schemas.openxmlformats.org/officeDocument/2006/relationships/viewProps" Target="viewProps.xml"/>
  <Relationship Id="rId7" Type="http://schemas.openxmlformats.org/officeDocument/2006/relationships/theme" Target="theme/theme1.xml"/>
  <Relationship Id="rId8" Type="http://schemas.openxmlformats.org/officeDocument/2006/relationships/tableStyles" Target="tableStyles.xml"/>
</Relationships>

</file>

<file path=ppt/notesMasters/_rels/notesMaster1.xml.rels><?xml version="1.0" encoding="utf-8"?>
<Relationships xmlns="http://schemas.openxmlformats.org/package/2006/relationships">
  <Relationship Id="rId1" Type="http://schemas.openxmlformats.org/officeDocument/2006/relationships/theme" Target="../theme/theme2.xml"/>
</Relationships>
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

</file>

<file path=ppt/notesSlides/_rels/notesSlide2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theme" Target="../theme/theme1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<Relationship Id="rId1" Type="http://schemas.openxmlformats.org/officeDocument/2006/relationships/notesSlide" Target="../notesSlides/notesSlide1.xml"/>
  <Relationship Id="rId10" Type="http://schemas.openxmlformats.org/officeDocument/2006/relationships/image" Target="../media/image8.png"/>
  <Relationship Id="rId11" Type="http://schemas.openxmlformats.org/officeDocument/2006/relationships/image" Target="../media/image9.png"/>
  <Relationship Id="rId12" Type="http://schemas.openxmlformats.org/officeDocument/2006/relationships/image" Target="../media/image10.png"/>
  <Relationship Id="rId13" Type="http://schemas.openxmlformats.org/officeDocument/2006/relationships/image" Target="../media/image11.png"/>
  <Relationship Id="rId14" Type="http://schemas.openxmlformats.org/officeDocument/2006/relationships/image" Target="../media/image12.png"/>
  <Relationship Id="rId15" Type="http://schemas.openxmlformats.org/officeDocument/2006/relationships/image" Target="../media/image13.png"/>
  <Relationship Id="rId16" Type="http://schemas.openxmlformats.org/officeDocument/2006/relationships/image" Target="../media/image14.png"/>
  <Relationship Id="rId17" Type="http://schemas.openxmlformats.org/officeDocument/2006/relationships/image" Target="../media/image15.png"/>
  <Relationship Id="rId18" Type="http://schemas.openxmlformats.org/officeDocument/2006/relationships/image" Target="../media/image16.png"/>
  <Relationship Id="rId19" Type="http://schemas.openxmlformats.org/officeDocument/2006/relationships/image" Target="../media/image17.png"/>
  <Relationship Id="rId2" Type="http://schemas.openxmlformats.org/officeDocument/2006/relationships/slideLayout" Target="../slideLayouts/slideLayout1.xml"/>
  <Relationship Id="rId3" Type="http://schemas.openxmlformats.org/officeDocument/2006/relationships/image" Target="../media/image1.png"/>
  <Relationship Id="rId4" Type="http://schemas.openxmlformats.org/officeDocument/2006/relationships/image" Target="../media/image2.png"/>
  <Relationship Id="rId5" Type="http://schemas.openxmlformats.org/officeDocument/2006/relationships/image" Target="../media/image3.png"/>
  <Relationship Id="rId6" Type="http://schemas.openxmlformats.org/officeDocument/2006/relationships/image" Target="../media/image4.png"/>
  <Relationship Id="rId7" Type="http://schemas.openxmlformats.org/officeDocument/2006/relationships/image" Target="../media/image5.png"/>
  <Relationship Id="rId8" Type="http://schemas.openxmlformats.org/officeDocument/2006/relationships/image" Target="../media/image6.png"/>
  <Relationship Id="rId9" Type="http://schemas.openxmlformats.org/officeDocument/2006/relationships/image" Target="../media/image7.png"/>
  <Relationship Id="rId20" Type="http://schemas.openxmlformats.org/officeDocument/2006/relationships/image" Target="../media/image31.png"/>
  <Relationship Id="rId21" Type="http://schemas.openxmlformats.org/officeDocument/2006/relationships/image" Target="../media/image33.png"/>
  <Relationship Id="rId22" Type="http://schemas.openxmlformats.org/officeDocument/2006/relationships/image" Target="../media/image34.png"/>
</Relationships>

</file>

<file path=ppt/slides/_rels/slide2.xml.rels><?xml version="1.0" encoding="utf-8"?>
<Relationships xmlns="http://schemas.openxmlformats.org/package/2006/relationships">
  <Relationship Id="rId1" Type="http://schemas.openxmlformats.org/officeDocument/2006/relationships/image" Target="../media/image18.png"/>
  <Relationship Id="rId10" Type="http://schemas.openxmlformats.org/officeDocument/2006/relationships/image" Target="../media/image27.png"/>
  <Relationship Id="rId11" Type="http://schemas.openxmlformats.org/officeDocument/2006/relationships/image" Target="../media/image28.png"/>
  <Relationship Id="rId12" Type="http://schemas.openxmlformats.org/officeDocument/2006/relationships/image" Target="../media/image29.png"/>
  <Relationship Id="rId13" Type="http://schemas.openxmlformats.org/officeDocument/2006/relationships/image" Target="../media/image30.png"/>
  <Relationship Id="rId14" Type="http://schemas.openxmlformats.org/officeDocument/2006/relationships/slideLayout" Target="../slideLayouts/slideLayout1.xml"/>
  <Relationship Id="rId15" Type="http://schemas.openxmlformats.org/officeDocument/2006/relationships/notesSlide" Target="../notesSlides/notesSlide2.xml"/>
  <Relationship Id="rId2" Type="http://schemas.openxmlformats.org/officeDocument/2006/relationships/image" Target="../media/image19.png"/>
  <Relationship Id="rId3" Type="http://schemas.openxmlformats.org/officeDocument/2006/relationships/image" Target="../media/image20.png"/>
  <Relationship Id="rId4" Type="http://schemas.openxmlformats.org/officeDocument/2006/relationships/image" Target="../media/image21.png"/>
  <Relationship Id="rId5" Type="http://schemas.openxmlformats.org/officeDocument/2006/relationships/image" Target="../media/image22.png"/>
  <Relationship Id="rId6" Type="http://schemas.openxmlformats.org/officeDocument/2006/relationships/image" Target="../media/image23.png"/>
  <Relationship Id="rId7" Type="http://schemas.openxmlformats.org/officeDocument/2006/relationships/image" Target="../media/image24.png"/>
  <Relationship Id="rId8" Type="http://schemas.openxmlformats.org/officeDocument/2006/relationships/image" Target="../media/image25.png"/>
  <Relationship Id="rId9" Type="http://schemas.openxmlformats.org/officeDocument/2006/relationships/image" Target="../media/image26.png"/>
</Relationships>
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인프라 구축도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" y="640080"/>
            <a:ext cx="1554480" cy="4206240"/>
          </a:xfrm>
          <a:prstGeom prst="rect">
            <a:avLst/>
          </a:prstGeom>
          <a:solidFill>
            <a:srgbClr val="E8EDF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" y="6583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CLIENT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8600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0040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MOBILE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08960"/>
            <a:ext cx="548640" cy="5486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7160" y="3657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/ 기업회원</a:t>
            </a:r>
            <a:endParaRPr lang="en-US" sz="700" dirty="0"/>
          </a:p>
        </p:txBody>
      </p:sp>
      <p:sp>
        <p:nvSpPr>
          <p:cNvPr id="14" name="Text 7"/>
          <p:cNvSpPr/>
          <p:nvPr/>
        </p:nvSpPr>
        <p:spPr>
          <a:xfrm>
            <a:off x="137160" y="3886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Request</a:t>
            </a:r>
            <a:endParaRPr lang="en-US" sz="700" dirty="0"/>
          </a:p>
        </p:txBody>
      </p:sp>
      <p:sp>
        <p:nvSpPr>
          <p:cNvPr id="15" name="Shape 8"/>
          <p:cNvSpPr/>
          <p:nvPr/>
        </p:nvSpPr>
        <p:spPr>
          <a:xfrm>
            <a:off x="2080260" y="621792"/>
            <a:ext cx="3931920" cy="4206240"/>
          </a:xfrm>
          <a:prstGeom prst="rect">
            <a:avLst/>
          </a:prstGeom>
          <a:solidFill>
            <a:srgbClr val="e8f5ee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2103120" y="6675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3.5.10  |  Java 17  |  Port:10000</a:t>
            </a:r>
            <a:endParaRPr lang="en-US" sz="9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1005840"/>
            <a:ext cx="457200" cy="4572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94560" y="1463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</a:t>
            </a:r>
            <a:endParaRPr lang="en-US" sz="7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100584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2926080" y="1463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17</a:t>
            </a:r>
            <a:endParaRPr lang="en-US" sz="7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1005840"/>
            <a:ext cx="457200" cy="4572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657600" y="1463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Gradle</a:t>
            </a:r>
            <a:endParaRPr lang="en-US" sz="700" dirty="0"/>
          </a:p>
        </p:txBody>
      </p:sp>
      <p:sp>
        <p:nvSpPr>
          <p:cNvPr id="23" name="Shape 13"/>
          <p:cNvSpPr/>
          <p:nvPr/>
        </p:nvSpPr>
        <p:spPr>
          <a:xfrm>
            <a:off x="2286000" y="173736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24" name="Text 14"/>
          <p:cNvSpPr/>
          <p:nvPr/>
        </p:nvSpPr>
        <p:spPr>
          <a:xfrm>
            <a:off x="2286000" y="1783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228600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MVC + REST API</a:t>
            </a:r>
            <a:endParaRPr lang="en-US" sz="600" dirty="0"/>
          </a:p>
        </p:txBody>
      </p:sp>
      <p:sp>
        <p:nvSpPr>
          <p:cNvPr id="26" name="Shape 16"/>
          <p:cNvSpPr/>
          <p:nvPr/>
        </p:nvSpPr>
        <p:spPr>
          <a:xfrm>
            <a:off x="3383280" y="1938528"/>
            <a:ext cx="365760" cy="0"/>
          </a:xfrm>
          <a:prstGeom prst="line">
            <a:avLst/>
          </a:prstGeom>
          <a:noFill/>
          <a:ln w="25400">
            <a:solidFill>
              <a:srgbClr val="006E3F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3749040" y="173736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3749040" y="1783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374904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Logic</a:t>
            </a:r>
            <a:endParaRPr lang="en-US" sz="600" dirty="0"/>
          </a:p>
        </p:txBody>
      </p:sp>
      <p:sp>
        <p:nvSpPr>
          <p:cNvPr id="30" name="Shape 20"/>
          <p:cNvSpPr/>
          <p:nvPr/>
        </p:nvSpPr>
        <p:spPr>
          <a:xfrm>
            <a:off x="4846320" y="1938528"/>
            <a:ext cx="182880" cy="0"/>
          </a:xfrm>
          <a:prstGeom prst="line">
            <a:avLst/>
          </a:prstGeom>
          <a:noFill/>
          <a:ln w="25400">
            <a:solidFill>
              <a:srgbClr val="006E3F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5029200" y="1737360"/>
            <a:ext cx="822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5029200" y="1783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Mapper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5029200" y="1947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XML</a:t>
            </a:r>
            <a:endParaRPr lang="en-US" sz="600" dirty="0"/>
          </a:p>
        </p:txBody>
      </p:sp>
      <p:sp>
        <p:nvSpPr>
          <p:cNvPr id="34" name="Shape 24"/>
          <p:cNvSpPr/>
          <p:nvPr/>
        </p:nvSpPr>
        <p:spPr>
          <a:xfrm>
            <a:off x="2286000" y="23317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23500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Thymeleaf (View)</a:t>
            </a:r>
            <a:endParaRPr lang="en-US" sz="800" dirty="0"/>
          </a:p>
        </p:txBody>
      </p:sp>
      <p:sp>
        <p:nvSpPr>
          <p:cNvPr id="36" name="Text 26"/>
          <p:cNvSpPr/>
          <p:nvPr/>
        </p:nvSpPr>
        <p:spPr>
          <a:xfrm>
            <a:off x="2286000" y="2496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 렌더링 + Fragment</a:t>
            </a:r>
            <a:endParaRPr lang="en-US" sz="6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0520" y="2304288"/>
            <a:ext cx="320040" cy="320040"/>
          </a:xfrm>
          <a:prstGeom prst="rect">
            <a:avLst/>
          </a:prstGeom>
        </p:spPr>
      </p:pic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6280" y="2304288"/>
            <a:ext cx="320040" cy="320040"/>
          </a:xfrm>
          <a:prstGeom prst="rect">
            <a:avLst/>
          </a:prstGeom>
        </p:spPr>
      </p:pic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2304288"/>
            <a:ext cx="320040" cy="32004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4114800" y="2633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HTML/CSS/JS</a:t>
            </a:r>
            <a:endParaRPr lang="en-US" sz="600" dirty="0"/>
          </a:p>
        </p:txBody>
      </p:sp>
      <p:sp>
        <p:nvSpPr>
          <p:cNvPr id="41" name="Shape 28"/>
          <p:cNvSpPr/>
          <p:nvPr/>
        </p:nvSpPr>
        <p:spPr>
          <a:xfrm>
            <a:off x="2286000" y="2880360"/>
            <a:ext cx="137160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CA8A04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1720" y="2898648"/>
            <a:ext cx="256032" cy="256032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2606040" y="2898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HttpSession (세션)</a:t>
            </a:r>
            <a:endParaRPr lang="en-US" sz="7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31720" y="3401568"/>
            <a:ext cx="320040" cy="320040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2286000" y="3364992"/>
            <a:ext cx="137160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33"/>
          <p:cNvSpPr/>
          <p:nvPr/>
        </p:nvSpPr>
        <p:spPr>
          <a:xfrm>
            <a:off x="2697480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SMTP</a:t>
            </a:r>
            <a:endParaRPr lang="en-US" sz="700" dirty="0"/>
          </a:p>
        </p:txBody>
      </p:sp>
      <p:sp>
        <p:nvSpPr>
          <p:cNvPr id="50" name="Text 34"/>
          <p:cNvSpPr/>
          <p:nvPr/>
        </p:nvSpPr>
        <p:spPr>
          <a:xfrm>
            <a:off x="2697480" y="3529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발송</a:t>
            </a:r>
            <a:endParaRPr lang="en-US" sz="60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86200" y="3401568"/>
            <a:ext cx="320040" cy="320040"/>
          </a:xfrm>
          <a:prstGeom prst="rect">
            <a:avLst/>
          </a:prstGeom>
        </p:spPr>
      </p:pic>
      <p:sp>
        <p:nvSpPr>
          <p:cNvPr id="52" name="Shape 35"/>
          <p:cNvSpPr/>
          <p:nvPr/>
        </p:nvSpPr>
        <p:spPr>
          <a:xfrm>
            <a:off x="3840480" y="3364992"/>
            <a:ext cx="137160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4206240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Solapi SMS</a:t>
            </a:r>
            <a:endParaRPr lang="en-US" sz="700" dirty="0"/>
          </a:p>
        </p:txBody>
      </p:sp>
      <p:sp>
        <p:nvSpPr>
          <p:cNvPr id="54" name="Text 37"/>
          <p:cNvSpPr/>
          <p:nvPr/>
        </p:nvSpPr>
        <p:spPr>
          <a:xfrm>
            <a:off x="4206240" y="3529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 발송</a:t>
            </a:r>
            <a:endParaRPr lang="en-US" sz="600" dirty="0"/>
          </a:p>
        </p:txBody>
      </p:sp>
      <p:pic>
        <p:nvPicPr>
          <p:cNvPr id="100" name="KakaoIcon1" descr="kakao_oauth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10000" y="3933632"/>
            <a:ext cx="260000" cy="260000"/>
          </a:xfrm>
          <a:prstGeom prst="rect">
            <a:avLst/>
          </a:prstGeom>
        </p:spPr>
      </p:pic>
      <p:sp>
        <p:nvSpPr>
          <p:cNvPr id="55" name="Shape 38"/>
          <p:cNvSpPr/>
          <p:nvPr/>
        </p:nvSpPr>
        <p:spPr>
          <a:xfrm>
            <a:off x="2286000" y="3913632"/>
            <a:ext cx="13716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39"/>
          <p:cNvSpPr/>
          <p:nvPr/>
        </p:nvSpPr>
        <p:spPr>
          <a:xfrm>
            <a:off x="2600000" y="3931920"/>
            <a:ext cx="10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OAuth</a:t>
            </a:r>
            <a:endParaRPr lang="en-US" sz="700" dirty="0"/>
          </a:p>
        </p:txBody>
      </p:sp>
      <p:sp>
        <p:nvSpPr>
          <p:cNvPr id="57" name="Text 40"/>
          <p:cNvSpPr/>
          <p:nvPr/>
        </p:nvSpPr>
        <p:spPr>
          <a:xfrm>
            <a:off x="2600000" y="4069080"/>
            <a:ext cx="10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소셜 로그인</a:t>
            </a:r>
            <a:endParaRPr lang="en-US" sz="600" dirty="0"/>
          </a:p>
        </p:txBody>
      </p:sp>
      <p:pic>
        <p:nvPicPr>
          <p:cNvPr id="101" name="ThumbIcon1" descr="thumbnailato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64480" y="3933632"/>
            <a:ext cx="260000" cy="260000"/>
          </a:xfrm>
          <a:prstGeom prst="rect">
            <a:avLst/>
          </a:prstGeom>
        </p:spPr>
      </p:pic>
      <p:sp>
        <p:nvSpPr>
          <p:cNvPr id="58" name="Shape 41"/>
          <p:cNvSpPr/>
          <p:nvPr/>
        </p:nvSpPr>
        <p:spPr>
          <a:xfrm>
            <a:off x="3840480" y="3913632"/>
            <a:ext cx="13716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9" name="Text 42"/>
          <p:cNvSpPr/>
          <p:nvPr/>
        </p:nvSpPr>
        <p:spPr>
          <a:xfrm>
            <a:off x="4154480" y="3931920"/>
            <a:ext cx="10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Thumbnailator</a:t>
            </a:r>
            <a:endParaRPr lang="en-US" sz="700" dirty="0"/>
          </a:p>
        </p:txBody>
      </p:sp>
      <p:sp>
        <p:nvSpPr>
          <p:cNvPr id="60" name="Text 43"/>
          <p:cNvSpPr/>
          <p:nvPr/>
        </p:nvSpPr>
        <p:spPr>
          <a:xfrm>
            <a:off x="4154480" y="4069080"/>
            <a:ext cx="10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리사이즈</a:t>
            </a:r>
            <a:endParaRPr lang="en-US" sz="600" dirty="0"/>
          </a:p>
        </p:txBody>
      </p:sp>
      <p:sp>
        <p:nvSpPr>
          <p:cNvPr id="61" name="Shape 44"/>
          <p:cNvSpPr/>
          <p:nvPr/>
        </p:nvSpPr>
        <p:spPr>
          <a:xfrm>
            <a:off x="6400800" y="640080"/>
            <a:ext cx="2560320" cy="2286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45"/>
          <p:cNvSpPr/>
          <p:nvPr/>
        </p:nvSpPr>
        <p:spPr>
          <a:xfrm>
            <a:off x="6400800" y="667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000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0" y="1005840"/>
            <a:ext cx="731520" cy="731520"/>
          </a:xfrm>
          <a:prstGeom prst="rect">
            <a:avLst/>
          </a:prstGeom>
        </p:spPr>
      </p:pic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0" y="1051560"/>
            <a:ext cx="548640" cy="548640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6675120" y="1783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8.0</a:t>
            </a:r>
            <a:endParaRPr lang="en-US" sz="900" dirty="0"/>
          </a:p>
        </p:txBody>
      </p:sp>
      <p:sp>
        <p:nvSpPr>
          <p:cNvPr id="66" name="Text 47"/>
          <p:cNvSpPr/>
          <p:nvPr/>
        </p:nvSpPr>
        <p:spPr>
          <a:xfrm>
            <a:off x="667512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localhost:3306</a:t>
            </a:r>
            <a:endParaRPr lang="en-US" sz="700" dirty="0"/>
          </a:p>
        </p:txBody>
      </p:sp>
      <p:sp>
        <p:nvSpPr>
          <p:cNvPr id="67" name="Shape 48"/>
          <p:cNvSpPr/>
          <p:nvPr/>
        </p:nvSpPr>
        <p:spPr>
          <a:xfrm>
            <a:off x="6583680" y="219456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Text 49"/>
          <p:cNvSpPr/>
          <p:nvPr/>
        </p:nvSpPr>
        <p:spPr>
          <a:xfrm>
            <a:off x="6583680" y="2212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try_catch DB  |  60+ Tables  |  Views</a:t>
            </a:r>
            <a:endParaRPr lang="en-US" sz="700" dirty="0"/>
          </a:p>
        </p:txBody>
      </p:sp>
      <p:sp>
        <p:nvSpPr>
          <p:cNvPr id="69" name="Shape 50"/>
          <p:cNvSpPr/>
          <p:nvPr/>
        </p:nvSpPr>
        <p:spPr>
          <a:xfrm>
            <a:off x="6583680" y="2606040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0" name="Text 51"/>
          <p:cNvSpPr/>
          <p:nvPr/>
        </p:nvSpPr>
        <p:spPr>
          <a:xfrm>
            <a:off x="6583680" y="2624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Mapper XML  1:1 매핑</a:t>
            </a:r>
            <a:endParaRPr lang="en-US" sz="700" dirty="0"/>
          </a:p>
        </p:txBody>
      </p:sp>
      <p:sp>
        <p:nvSpPr>
          <p:cNvPr id="71" name="Shape 52"/>
          <p:cNvSpPr/>
          <p:nvPr/>
        </p:nvSpPr>
        <p:spPr>
          <a:xfrm>
            <a:off x="6400800" y="3200400"/>
            <a:ext cx="2560320" cy="1645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6400800" y="32278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External Services</a:t>
            </a:r>
            <a:endParaRPr lang="en-US" sz="1000" dirty="0"/>
          </a:p>
        </p:txBody>
      </p:sp>
      <p:pic>
        <p:nvPicPr>
          <p:cNvPr id="7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3680" y="3566160"/>
            <a:ext cx="274320" cy="274320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6903720" y="3584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SMTP</a:t>
            </a:r>
            <a:endParaRPr lang="en-US" sz="800" dirty="0"/>
          </a:p>
        </p:txBody>
      </p:sp>
      <p:sp>
        <p:nvSpPr>
          <p:cNvPr id="75" name="Text 55"/>
          <p:cNvSpPr/>
          <p:nvPr/>
        </p:nvSpPr>
        <p:spPr>
          <a:xfrm>
            <a:off x="6903720" y="3730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test@gmail.com</a:t>
            </a:r>
            <a:endParaRPr lang="en-US" sz="600" dirty="0"/>
          </a:p>
        </p:txBody>
      </p:sp>
      <p:pic>
        <p:nvPicPr>
          <p:cNvPr id="76" name="Image 18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83680" y="3977640"/>
            <a:ext cx="274320" cy="274320"/>
          </a:xfrm>
          <a:prstGeom prst="rect">
            <a:avLst/>
          </a:prstGeom>
        </p:spPr>
      </p:pic>
      <p:sp>
        <p:nvSpPr>
          <p:cNvPr id="77" name="Text 56"/>
          <p:cNvSpPr/>
          <p:nvPr/>
        </p:nvSpPr>
        <p:spPr>
          <a:xfrm>
            <a:off x="6903720" y="3995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Solapi API</a:t>
            </a:r>
            <a:endParaRPr lang="en-US" sz="800" dirty="0"/>
          </a:p>
        </p:txBody>
      </p:sp>
      <p:sp>
        <p:nvSpPr>
          <p:cNvPr id="78" name="Text 57"/>
          <p:cNvSpPr/>
          <p:nvPr/>
        </p:nvSpPr>
        <p:spPr>
          <a:xfrm>
            <a:off x="6903720" y="41422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SMS/MMS 발송</a:t>
            </a:r>
            <a:endParaRPr lang="en-US" sz="600" dirty="0"/>
          </a:p>
        </p:txBody>
      </p:sp>
      <p:pic>
        <p:nvPicPr>
          <p:cNvPr id="102" name="KakaoIcon2" descr="kakao_oauth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3680" y="4389120"/>
            <a:ext cx="274320" cy="274320"/>
          </a:xfrm>
          <a:prstGeom prst="rect">
            <a:avLst/>
          </a:prstGeom>
        </p:spPr>
      </p:pic>
      <p:sp>
        <p:nvSpPr>
          <p:cNvPr id="79" name="Text 58"/>
          <p:cNvSpPr/>
          <p:nvPr/>
        </p:nvSpPr>
        <p:spPr>
          <a:xfrm>
            <a:off x="6583680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OAuth API</a:t>
            </a:r>
            <a:endParaRPr lang="en-US" sz="800" dirty="0"/>
          </a:p>
        </p:txBody>
      </p:sp>
      <p:sp>
        <p:nvSpPr>
          <p:cNvPr id="80" name="Shape 59"/>
          <p:cNvSpPr/>
          <p:nvPr/>
        </p:nvSpPr>
        <p:spPr>
          <a:xfrm>
            <a:off x="1691640" y="137160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1" name="Shape 60"/>
          <p:cNvSpPr/>
          <p:nvPr/>
        </p:nvSpPr>
        <p:spPr>
          <a:xfrm>
            <a:off x="1691640" y="256032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2" name="Text 61"/>
          <p:cNvSpPr/>
          <p:nvPr/>
        </p:nvSpPr>
        <p:spPr>
          <a:xfrm>
            <a:off x="1577340" y="13716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60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Request</a:t>
            </a:r>
            <a:endParaRPr lang="en-US" sz="600"/>
          </a:p>
        </p:txBody>
      </p:sp>
      <p:sp>
        <p:nvSpPr>
          <p:cNvPr id="83" name="Text 62"/>
          <p:cNvSpPr/>
          <p:nvPr/>
        </p:nvSpPr>
        <p:spPr>
          <a:xfrm>
            <a:off x="1577340" y="242544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60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Response</a:t>
            </a:r>
            <a:endParaRPr lang="en-US" sz="600"/>
          </a:p>
        </p:txBody>
      </p:sp>
      <p:sp>
        <p:nvSpPr>
          <p:cNvPr id="84" name="Shape 63"/>
          <p:cNvSpPr/>
          <p:nvPr/>
        </p:nvSpPr>
        <p:spPr>
          <a:xfrm>
            <a:off x="6035040" y="1938528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5" name="Text 64"/>
          <p:cNvSpPr/>
          <p:nvPr/>
        </p:nvSpPr>
        <p:spPr>
          <a:xfrm>
            <a:off x="5897880" y="19842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60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SQL</a:t>
            </a:r>
            <a:endParaRPr lang="en-US" sz="600"/>
          </a:p>
        </p:txBody>
      </p:sp>
      <p:sp>
        <p:nvSpPr>
          <p:cNvPr id="86" name="Shape 65"/>
          <p:cNvSpPr/>
          <p:nvPr/>
        </p:nvSpPr>
        <p:spPr>
          <a:xfrm>
            <a:off x="6035040" y="3520440"/>
            <a:ext cx="3657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87" name="Text 66"/>
          <p:cNvSpPr/>
          <p:nvPr/>
        </p:nvSpPr>
        <p:spPr>
          <a:xfrm>
            <a:off x="5897880" y="33649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60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API</a:t>
            </a:r>
            <a:endParaRPr lang="en-US" sz="600"/>
          </a:p>
        </p:txBody>
      </p:sp>
      <p:sp>
        <p:nvSpPr>
          <p:cNvPr id="88" name="Shape 67"/>
          <p:cNvSpPr/>
          <p:nvPr/>
        </p:nvSpPr>
        <p:spPr>
          <a:xfrm>
            <a:off x="1783080" y="1051560"/>
            <a:ext cx="201168" cy="201168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89" name="Text 68"/>
          <p:cNvSpPr/>
          <p:nvPr/>
        </p:nvSpPr>
        <p:spPr>
          <a:xfrm>
            <a:off x="1783080" y="1051560"/>
            <a:ext cx="201168" cy="20116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en-US" sz="900"/>
          </a:p>
        </p:txBody>
      </p:sp>
      <p:sp>
        <p:nvSpPr>
          <p:cNvPr id="90" name="Shape 69"/>
          <p:cNvSpPr/>
          <p:nvPr/>
        </p:nvSpPr>
        <p:spPr>
          <a:xfrm>
            <a:off x="2331720" y="1627632"/>
            <a:ext cx="201168" cy="201168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1" name="Text 70"/>
          <p:cNvSpPr/>
          <p:nvPr/>
        </p:nvSpPr>
        <p:spPr>
          <a:xfrm>
            <a:off x="2331720" y="1627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92" name="Shape 71"/>
          <p:cNvSpPr/>
          <p:nvPr/>
        </p:nvSpPr>
        <p:spPr>
          <a:xfrm>
            <a:off x="3794760" y="1627632"/>
            <a:ext cx="201168" cy="201168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3" name="Text 72"/>
          <p:cNvSpPr/>
          <p:nvPr/>
        </p:nvSpPr>
        <p:spPr>
          <a:xfrm>
            <a:off x="3794760" y="1627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94" name="Shape 73"/>
          <p:cNvSpPr/>
          <p:nvPr/>
        </p:nvSpPr>
        <p:spPr>
          <a:xfrm>
            <a:off x="5074920" y="1627632"/>
            <a:ext cx="201168" cy="201168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5" name="Text 74"/>
          <p:cNvSpPr/>
          <p:nvPr/>
        </p:nvSpPr>
        <p:spPr>
          <a:xfrm>
            <a:off x="5074920" y="1627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96" name="Shape 75"/>
          <p:cNvSpPr/>
          <p:nvPr/>
        </p:nvSpPr>
        <p:spPr>
          <a:xfrm>
            <a:off x="6126480" y="1664208"/>
            <a:ext cx="201168" cy="201168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7" name="Text 76"/>
          <p:cNvSpPr/>
          <p:nvPr/>
        </p:nvSpPr>
        <p:spPr>
          <a:xfrm>
            <a:off x="6126480" y="16642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Shape 77"/>
          <p:cNvSpPr/>
          <p:nvPr/>
        </p:nvSpPr>
        <p:spPr>
          <a:xfrm>
            <a:off x="2194560" y="2267712"/>
            <a:ext cx="201168" cy="201168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9" name="Text 78"/>
          <p:cNvSpPr/>
          <p:nvPr/>
        </p:nvSpPr>
        <p:spPr>
          <a:xfrm>
            <a:off x="2194560" y="2267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인프라 흐름 설명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114800" cy="420624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0"/>
            <a:ext cx="4114800" cy="320040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흐름 (Request Flow)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7899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0972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HTTP 요청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웹/모바일 브라우저에서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서버(Port:10000)로 HTTP 요청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" y="17556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755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17556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 라우팅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MVC Controller가 URL 매핑에 따라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 메서드 실행 (GET/POST/PUT/DELETE)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7200" y="241401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2414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9572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4140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비즈니스 로직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" y="25968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로직 처리, 트랜잭션 관리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서비스 연동 (메일/SMS/OAuth)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457200" y="307238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3072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5409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43000" y="307238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→ MySQL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" y="32552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Mapper 인터페이스 → XML SQL 실행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try_catch DB (60+ 테이블) 접근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457200" y="373075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8" name="Text 22"/>
          <p:cNvSpPr/>
          <p:nvPr/>
        </p:nvSpPr>
        <p:spPr>
          <a:xfrm>
            <a:off x="457200" y="3730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1246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43000" y="37307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결과 반환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43000" y="3913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결과를 DTO/VO로 변환하여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→ Controller로 전달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457200" y="4389120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33" name="Text 26"/>
          <p:cNvSpPr/>
          <p:nvPr/>
        </p:nvSpPr>
        <p:spPr>
          <a:xfrm>
            <a:off x="45720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70832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143000" y="43891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Thymeleaf 렌더링 / JSON 응답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43000" y="4572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요청: Thymeleaf로 HTML 렌더링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요청: JSON 형태로 응답 반환</a:t>
            </a:r>
            <a:endParaRPr lang="en-US" sz="750" dirty="0"/>
          </a:p>
        </p:txBody>
      </p:sp>
      <p:sp>
        <p:nvSpPr>
          <p:cNvPr id="37" name="Shape 29"/>
          <p:cNvSpPr/>
          <p:nvPr/>
        </p:nvSpPr>
        <p:spPr>
          <a:xfrm>
            <a:off x="4754880" y="640080"/>
            <a:ext cx="4114800" cy="420624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754880" y="640080"/>
            <a:ext cx="411480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1"/>
          <p:cNvSpPr/>
          <p:nvPr/>
        </p:nvSpPr>
        <p:spPr>
          <a:xfrm>
            <a:off x="4937760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 상세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937760" y="1051560"/>
            <a:ext cx="731520" cy="20116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937760" y="10515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</a:t>
            </a:r>
            <a:endParaRPr lang="en-US" sz="7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1024128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08076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3.5.10 / Java 17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Embedded Tomcat (Port: 10000)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 Timeout: 30분</a:t>
            </a:r>
            <a:endParaRPr lang="en-US" sz="700" dirty="0"/>
          </a:p>
        </p:txBody>
      </p:sp>
      <p:sp>
        <p:nvSpPr>
          <p:cNvPr id="44" name="Shape 35"/>
          <p:cNvSpPr/>
          <p:nvPr/>
        </p:nvSpPr>
        <p:spPr>
          <a:xfrm>
            <a:off x="4937760" y="1581912"/>
            <a:ext cx="731520" cy="20116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937760" y="158191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7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554480"/>
            <a:ext cx="256032" cy="25603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080760" y="1581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8.0 (localhost:3306)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DB: try_catch / User: TRY-CATCH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60+ 테이블, View 활용</a:t>
            </a:r>
            <a:endParaRPr lang="en-US" sz="700" dirty="0"/>
          </a:p>
        </p:txBody>
      </p:sp>
      <p:sp>
        <p:nvSpPr>
          <p:cNvPr id="48" name="Shape 38"/>
          <p:cNvSpPr/>
          <p:nvPr/>
        </p:nvSpPr>
        <p:spPr>
          <a:xfrm>
            <a:off x="4937760" y="2112264"/>
            <a:ext cx="731520" cy="20116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4937760" y="21122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ORM</a:t>
            </a:r>
            <a:endParaRPr lang="en-US" sz="7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2084832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608076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3.0.4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Mapper Interface + XML 1:1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SQL (if, choose, foreach)</a:t>
            </a:r>
            <a:endParaRPr lang="en-US" sz="700" dirty="0"/>
          </a:p>
        </p:txBody>
      </p:sp>
      <p:sp>
        <p:nvSpPr>
          <p:cNvPr id="52" name="Shape 41"/>
          <p:cNvSpPr/>
          <p:nvPr/>
        </p:nvSpPr>
        <p:spPr>
          <a:xfrm>
            <a:off x="4937760" y="2642616"/>
            <a:ext cx="731520" cy="20116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4937760" y="264261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</a:t>
            </a:r>
            <a:endParaRPr lang="en-US" sz="7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2615184"/>
            <a:ext cx="256032" cy="256032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6080760" y="26426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Thymeleaf Template Engine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Fragment 기반 컴포넌트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HTML5 + CSS3 + JavaScript</a:t>
            </a:r>
            <a:endParaRPr lang="en-US" sz="700" dirty="0"/>
          </a:p>
        </p:txBody>
      </p:sp>
      <p:sp>
        <p:nvSpPr>
          <p:cNvPr id="56" name="Shape 44"/>
          <p:cNvSpPr/>
          <p:nvPr/>
        </p:nvSpPr>
        <p:spPr>
          <a:xfrm>
            <a:off x="4937760" y="3172968"/>
            <a:ext cx="731520" cy="20116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7" name="Text 45"/>
          <p:cNvSpPr/>
          <p:nvPr/>
        </p:nvSpPr>
        <p:spPr>
          <a:xfrm>
            <a:off x="4937760" y="31729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External</a:t>
            </a:r>
            <a:endParaRPr lang="en-US" sz="700" dirty="0"/>
          </a:p>
        </p:txBody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3145536"/>
            <a:ext cx="256032" cy="256032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6080760" y="3172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SMTP (메일 발송)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Solapi SDK 1.0.3 (SMS)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OAuth (소셜 로그인)</a:t>
            </a:r>
            <a:endParaRPr lang="en-US" sz="700" dirty="0"/>
          </a:p>
        </p:txBody>
      </p:sp>
      <p:sp>
        <p:nvSpPr>
          <p:cNvPr id="60" name="Shape 47"/>
          <p:cNvSpPr/>
          <p:nvPr/>
        </p:nvSpPr>
        <p:spPr>
          <a:xfrm>
            <a:off x="4937760" y="3703320"/>
            <a:ext cx="731520" cy="20116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1" name="Text 48"/>
          <p:cNvSpPr/>
          <p:nvPr/>
        </p:nvSpPr>
        <p:spPr>
          <a:xfrm>
            <a:off x="4937760" y="3703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</a:t>
            </a:r>
            <a:endParaRPr lang="en-US" sz="700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0720" y="3675888"/>
            <a:ext cx="256032" cy="256032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608076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Thumbnailator (이미지 리사이즈)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C:/file/ (표시), C:/upload/ (다운로드)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Multipart 파일 업로드</a:t>
            </a:r>
            <a:endParaRPr lang="en-US" sz="700" dirty="0"/>
          </a:p>
        </p:txBody>
      </p:sp>
      <p:sp>
        <p:nvSpPr>
          <p:cNvPr id="64" name="Shape 50"/>
          <p:cNvSpPr/>
          <p:nvPr/>
        </p:nvSpPr>
        <p:spPr>
          <a:xfrm>
            <a:off x="4937760" y="4233672"/>
            <a:ext cx="731520" cy="20116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5" name="Text 51"/>
          <p:cNvSpPr/>
          <p:nvPr/>
        </p:nvSpPr>
        <p:spPr>
          <a:xfrm>
            <a:off x="4937760" y="4233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</a:t>
            </a:r>
            <a:endParaRPr lang="en-US" sz="700" dirty="0"/>
          </a:p>
        </p:txBody>
      </p:sp>
      <p:pic>
        <p:nvPicPr>
          <p:cNvPr id="6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0720" y="4206240"/>
            <a:ext cx="256032" cy="256032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6080760" y="4233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Gradle Build Tool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Lombok, Spring Mail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devtools (개발 핫리로드)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257</ep:Words>
  <ep:PresentationFormat>On-screen Show (16:9)</ep:PresentationFormat>
  <ep:Paragraphs>104</ep:Paragraphs>
  <ep:Slides>2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2026-03-15T09:45:18.000</dcterms:created>
  <dc:creator>김윤찬</dc:creator>
  <cp:lastModifiedBy>pigch</cp:lastModifiedBy>
  <dcterms:modified xsi:type="dcterms:W3CDTF">2026-03-15T09:49:18.148</dcterms:modified>
  <cp:revision>3</cp:revision>
  <dc:subject>PptxGenJS Presentation</dc:subject>
  <dc:title>TRY-CATCH 인프라 구축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